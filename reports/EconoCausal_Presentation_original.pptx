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EconoCausal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Dynamic Pricing via Double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Internship project — Data Science &amp; Machine Learning</a:t>
            </a:r>
          </a:p>
          <a:p>
            <a:pPr>
              <a:spcAft>
                <a:spcPts val="1000"/>
              </a:spcAft>
              <a:defRPr sz="2200"/>
            </a:pPr>
            <a:r>
              <a:t>Objective: estimate the causal effect of price on demand</a:t>
            </a:r>
          </a:p>
          <a:p>
            <a:pPr>
              <a:spcAft>
                <a:spcPts val="1000"/>
              </a:spcAft>
              <a:defRPr sz="2200"/>
            </a:pPr>
            <a:r>
              <a:t>Method: cross-fitted Double Machine Learning (DML)</a:t>
            </a:r>
          </a:p>
          <a:p>
            <a:pPr>
              <a:spcAft>
                <a:spcPts val="1000"/>
              </a:spcAft>
              <a:defRPr sz="2200"/>
            </a:pPr>
            <a:r>
              <a:t>Dataset: reproducible synthetic retail pricing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Observed price and sales correlation is not necessarily causal.</a:t>
            </a:r>
          </a:p>
          <a:p>
            <a:pPr>
              <a:spcAft>
                <a:spcPts val="1000"/>
              </a:spcAft>
              <a:defRPr sz="2000"/>
            </a:pPr>
            <a:r>
              <a:t>Businesses may change prices when demand, inventory, costs, or competitor prices change.</a:t>
            </a:r>
          </a:p>
          <a:p>
            <a:pPr>
              <a:spcAft>
                <a:spcPts val="1000"/>
              </a:spcAft>
              <a:defRPr sz="2000"/>
            </a:pPr>
            <a:r>
              <a:t>The project controls for observed confounders before estimating price elasticity.</a:t>
            </a:r>
          </a:p>
          <a:p>
            <a:pPr>
              <a:spcAft>
                <a:spcPts val="1000"/>
              </a:spcAft>
              <a:defRPr sz="2000"/>
            </a:pPr>
            <a:r>
              <a:t>The final app demonstrates how an estimated elasticity can be used in a controlled scenario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8,000 daily observations generated with a fixed random seed.</a:t>
            </a:r>
          </a:p>
          <a:p>
            <a:pPr>
              <a:spcAft>
                <a:spcPts val="1000"/>
              </a:spcAft>
              <a:defRPr sz="1800"/>
            </a:pPr>
            <a:r>
              <a:t>Categorical: category, region.</a:t>
            </a:r>
          </a:p>
          <a:p>
            <a:pPr>
              <a:spcAft>
                <a:spcPts val="1000"/>
              </a:spcAft>
              <a:defRPr sz="1800"/>
            </a:pPr>
            <a:r>
              <a:t>Calendar / promotion: day_of_week, holiday, promotion.</a:t>
            </a:r>
          </a:p>
          <a:p>
            <a:pPr>
              <a:spcAft>
                <a:spcPts val="1000"/>
              </a:spcAft>
              <a:defRPr sz="1800"/>
            </a:pPr>
            <a:r>
              <a:t>Business variables: cost, competitor_price, demand_index, inventory.</a:t>
            </a:r>
          </a:p>
          <a:p>
            <a:pPr>
              <a:spcAft>
                <a:spcPts val="1000"/>
              </a:spcAft>
              <a:defRPr sz="1800"/>
            </a:pPr>
            <a:r>
              <a:t>Treatment: log(price)  |  Outcome: log1p(units_sold).</a:t>
            </a:r>
          </a:p>
          <a:p>
            <a:pPr>
              <a:spcAft>
                <a:spcPts val="1000"/>
              </a:spcAft>
              <a:defRPr sz="1800"/>
            </a:pPr>
            <a:r>
              <a:t>The generator uses a known benchmark elasticity of -1.25.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Methodology — Double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Split observations into cross-validation folds.</a:t>
            </a:r>
          </a:p>
          <a:p>
            <a:pPr>
              <a:spcAft>
                <a:spcPts val="1000"/>
              </a:spcAft>
              <a:defRPr sz="1800"/>
            </a:pPr>
            <a:r>
              <a:t>2. Learn E[Y|X] with Random Forest and obtain out-of-fold outcome predictions.</a:t>
            </a:r>
          </a:p>
          <a:p>
            <a:pPr>
              <a:spcAft>
                <a:spcPts val="1000"/>
              </a:spcAft>
              <a:defRPr sz="1800"/>
            </a:pPr>
            <a:r>
              <a:t>3. Learn E[D|X] with Random Forest and obtain out-of-fold treatment predictions.</a:t>
            </a:r>
          </a:p>
          <a:p>
            <a:pPr>
              <a:spcAft>
                <a:spcPts val="1000"/>
              </a:spcAft>
              <a:defRPr sz="1800"/>
            </a:pPr>
            <a:r>
              <a:t>4. Residualize outcome and treatment.</a:t>
            </a:r>
          </a:p>
          <a:p>
            <a:pPr>
              <a:spcAft>
                <a:spcPts val="1000"/>
              </a:spcAft>
              <a:defRPr sz="1800"/>
            </a:pPr>
            <a:r>
              <a:t>5. Estimate the partially-linear coefficient from residualized variables.</a:t>
            </a:r>
          </a:p>
          <a:p>
            <a:pPr>
              <a:spcAft>
                <a:spcPts val="1000"/>
              </a:spcAft>
              <a:defRPr sz="1800"/>
            </a:pPr>
            <a:r>
              <a:t>6. Use bootstrap resampling for an empirical 95% interval.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Exploratory Data Analysis</a:t>
            </a:r>
          </a:p>
        </p:txBody>
      </p:sp>
      <p:pic>
        <p:nvPicPr>
          <p:cNvPr id="3" name="Picture 2" descr="price_vs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3383280" cy="2114550"/>
          </a:xfrm>
          <a:prstGeom prst="rect">
            <a:avLst/>
          </a:prstGeom>
        </p:spPr>
      </p:pic>
      <p:pic>
        <p:nvPicPr>
          <p:cNvPr id="4" name="Picture 3" descr="demand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417320"/>
            <a:ext cx="3383280" cy="2114550"/>
          </a:xfrm>
          <a:prstGeom prst="rect">
            <a:avLst/>
          </a:prstGeom>
        </p:spPr>
      </p:pic>
      <p:pic>
        <p:nvPicPr>
          <p:cNvPr id="5" name="Picture 4" descr="price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417320"/>
            <a:ext cx="3383280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325880"/>
          <a:ext cx="8412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Estimated elasticity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-1.1194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Standard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0.0258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95% bootstrap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[-1.1650, -1.0714]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Outcome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0.2438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Outcome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0.5456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Treatment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0.1005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Treatment 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0.9817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8000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Interactive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Streamlit dashboard: app.py</a:t>
            </a:r>
          </a:p>
          <a:p>
            <a:pPr>
              <a:spcAft>
                <a:spcPts val="1000"/>
              </a:spcAft>
              <a:defRPr sz="1900"/>
            </a:pPr>
            <a:r>
              <a:t>Select category and scenario inputs.</a:t>
            </a:r>
          </a:p>
          <a:p>
            <a:pPr>
              <a:spcAft>
                <a:spcPts val="1000"/>
              </a:spcAft>
              <a:defRPr sz="1900"/>
            </a:pPr>
            <a:r>
              <a:t>Adjust price change from -20% to +20%.</a:t>
            </a:r>
          </a:p>
          <a:p>
            <a:pPr>
              <a:spcAft>
                <a:spcPts val="1000"/>
              </a:spcAft>
              <a:defRPr sz="1900"/>
            </a:pPr>
            <a:r>
              <a:t>Estimate demand multiplier from the causal elasticity.</a:t>
            </a:r>
          </a:p>
          <a:p>
            <a:pPr>
              <a:spcAft>
                <a:spcPts val="1000"/>
              </a:spcAft>
              <a:defRPr sz="1900"/>
            </a:pPr>
            <a:r>
              <a:t>Show scenario price, estimated demand and illustrative gross contribution.</a:t>
            </a:r>
          </a:p>
          <a:p>
            <a:pPr>
              <a:spcAft>
                <a:spcPts val="1000"/>
              </a:spcAft>
              <a:defRPr sz="1900"/>
            </a:pPr>
            <a:r>
              <a:t>Display model evaluation metrics and confidence interval.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Dataset is synthetic; results are not claims about a real company or market.</a:t>
            </a:r>
          </a:p>
          <a:p>
            <a:pPr>
              <a:spcAft>
                <a:spcPts val="1000"/>
              </a:spcAft>
              <a:defRPr sz="1900"/>
            </a:pPr>
            <a:r>
              <a:t>Causal interpretation depends on observed-confounding and model assumptions.</a:t>
            </a:r>
          </a:p>
          <a:p>
            <a:pPr>
              <a:spcAft>
                <a:spcPts val="1000"/>
              </a:spcAft>
              <a:defRPr sz="1900"/>
            </a:pPr>
            <a:r>
              <a:t>Unmeasured confounding may remain.</a:t>
            </a:r>
          </a:p>
          <a:p>
            <a:pPr>
              <a:spcAft>
                <a:spcPts val="1000"/>
              </a:spcAft>
              <a:defRPr sz="1900"/>
            </a:pPr>
            <a:r>
              <a:t>Main pipeline uses random seed 42 and can be rerun from the terminal.</a:t>
            </a:r>
          </a:p>
          <a:p>
            <a:pPr>
              <a:spcAft>
                <a:spcPts val="1000"/>
              </a:spcAft>
              <a:defRPr sz="1900"/>
            </a:pPr>
            <a:r>
              <a:t>Validation includes automated unit tests and a full pipeline 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